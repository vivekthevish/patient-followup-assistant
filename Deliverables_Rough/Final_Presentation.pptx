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88952" cy="54864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12188952" cy="54864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CareConnect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8D8DA"/>
                </a:solidFill>
              </a:rPr>
              <a:t>AI-Powered Patient Follow-Up and Reminder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898A"/>
                </a:solidFill>
              </a:rPr>
              <a:t>Domain: Healthcare  |  Theme 9: AI Patient Follow-Up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46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Team 11:  Manisha Pradhan  •  Sunit Mukherjee  •  Reffel Murzello
Vivek Sharma  •  Pradeep Kumar M  •  Mohammed Rohith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212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090A0"/>
                </a:solidFill>
              </a:rPr>
              <a:t>Advanced PG Certification in AI Engineering on Cloud and AIOps
IIT Roorkee, powered by Futurense  |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Our Team — Group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D8DA"/>
                </a:solidFill>
              </a:rPr>
              <a:t>Advanced PG Certification in AI Engineering on Cloud and AIOps | IIT Roorkee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3566160" cy="13716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54864" cy="137160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Manisha Pradhan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3337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D8DA"/>
                </a:solidFill>
              </a:rPr>
              <a:t>Dataset &amp; Documentation Lead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463040"/>
            <a:ext cx="3566160" cy="13716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463040"/>
            <a:ext cx="54864" cy="137160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64592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Sunit Mukherjee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148840"/>
            <a:ext cx="3337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D8DA"/>
                </a:solidFill>
              </a:rPr>
              <a:t>RAG Pipeline &amp; Agent Development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463040"/>
            <a:ext cx="3566160" cy="13716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463040"/>
            <a:ext cx="54864" cy="137160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64592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Reffel Murzello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148840"/>
            <a:ext cx="3337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D8DA"/>
                </a:solidFill>
              </a:rPr>
              <a:t>Workflow Architect &amp; Project Lead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154680"/>
            <a:ext cx="3566160" cy="13716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154680"/>
            <a:ext cx="54864" cy="137160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33756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Vivek Sharma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840480"/>
            <a:ext cx="3337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D8DA"/>
                </a:solidFill>
              </a:rPr>
              <a:t>Frontend &amp; Reminder Agent Developer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3154680"/>
            <a:ext cx="3566160" cy="13716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3154680"/>
            <a:ext cx="54864" cy="137160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333756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Pradeep Kumar 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840480"/>
            <a:ext cx="3337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D8DA"/>
                </a:solidFill>
              </a:rPr>
              <a:t>Escalation Agent &amp; Error Handling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3154680"/>
            <a:ext cx="3566160" cy="13716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3154680"/>
            <a:ext cx="54864" cy="137160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333756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Mohammed Rohith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40480"/>
            <a:ext cx="3337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D8DA"/>
                </a:solidFill>
              </a:rPr>
              <a:t>AWS Deployment &amp; Infrastructure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Selected Domain and Theme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D8DA"/>
                </a:solidFill>
              </a:rPr>
              <a:t>Healthcare | Theme 9: AI Patient Follow-Up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3035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73152" cy="502920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2B55"/>
                </a:solidFill>
              </a:rPr>
              <a:t>Domain: Healthcare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898A"/>
                </a:solidFill>
              </a:rPr>
              <a:t>Theme 9: AI Patient Follow-Up Assistant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51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Problem Statement from RFP: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175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</a:rPr>
              <a:t>"Hospitals miss follow-up communication"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0332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b="1">
                <a:solidFill>
                  <a:srgbClr val="1A1A2E"/>
                </a:solidFill>
              </a:rPr>
              <a:t>  •  20% of patients have adverse events within 30 days of discharge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1A1A2E"/>
                </a:solidFill>
              </a:rPr>
              <a:t>  •  Manual follow-up has 35–40% non-compliance rate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1A1A2E"/>
                </a:solidFill>
              </a:rPr>
              <a:t>  •  Timely follow-up reduces readmissions by 15–25%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463040"/>
            <a:ext cx="5760720" cy="13716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1536192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898A"/>
                </a:solidFill>
              </a:rPr>
              <a:t>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05740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Adverse Events
Post-Discharge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3063240"/>
            <a:ext cx="5760720" cy="13716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3136392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898A"/>
                </a:solidFill>
              </a:rPr>
              <a:t>15–25%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365760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Readmission
Reduction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4663440"/>
            <a:ext cx="5760720" cy="13716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4736592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898A"/>
                </a:solidFill>
              </a:rPr>
              <a:t>2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525780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Follow-up Time
with CareConnect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D8DA"/>
                </a:solidFill>
              </a:rPr>
              <a:t>The Follow-Up Gap in Healthcare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48640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2B55"/>
                </a:solidFill>
              </a:rPr>
              <a:t>Today's Reality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b="1">
                <a:solidFill>
                  <a:srgbClr val="1A1A2E"/>
                </a:solidFill>
              </a:rPr>
              <a:t>  •  Care coordinators track patients using spreadsheets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1A1A2E"/>
                </a:solidFill>
              </a:rPr>
              <a:t>  •  Reminders are generic — not personalized to diagnosis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1A1A2E"/>
                </a:solidFill>
              </a:rPr>
              <a:t>  •  High-risk patients not reliably identified &amp; escalated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1A1A2E"/>
                </a:solidFill>
              </a:rPr>
              <a:t>  •  No unified system for follow-up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69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C0000"/>
                </a:solidFill>
              </a:rPr>
              <a:t>Consequences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2628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b="1">
                <a:solidFill>
                  <a:srgbClr val="CC0000"/>
                </a:solidFill>
              </a:rPr>
              <a:t>  •  Preventable readmissions ($15k–$50k each)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CC0000"/>
                </a:solidFill>
              </a:rPr>
              <a:t>  •  Patient deterioration goes undetected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CC0000"/>
                </a:solidFill>
              </a:rPr>
              <a:t>  •  Care team overload and burnout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577840" cy="51206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544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898A"/>
                </a:solidFill>
              </a:rPr>
              <a:t>Root Cause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1168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Lack of intelligent automation for post-discharge patient engagement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1089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898A"/>
                </a:solidFill>
              </a:rPr>
              <a:t>CareConnect solves this with: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566160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b="1">
                <a:solidFill>
                  <a:srgbClr val="FFFFFF"/>
                </a:solidFill>
              </a:rPr>
              <a:t>  •  AI-driven risk stratification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FFFFFF"/>
                </a:solidFill>
              </a:rPr>
              <a:t>  •  Personalized multi-channel reminders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FFFFFF"/>
                </a:solidFill>
              </a:rPr>
              <a:t>  •  Automated escalation for critical patients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FFFFFF"/>
                </a:solidFill>
              </a:rPr>
              <a:t>  •  Human-in-the-loop clinician approval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Proposed Solution — CareConnect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D8DA"/>
                </a:solidFill>
              </a:rPr>
              <a:t>One Platform. Three Agents. Zero Missed Follow-Ups.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749039" cy="29260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Agent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Patient Summary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Analyzes patient records, appointment history &amp; protocols.
Generates clinical summary + risk level (Low/Medium/High/Critical).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417320"/>
            <a:ext cx="3749039" cy="292608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508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Agent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82880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Reminder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42316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Creates 3 personalized reminders:
SMS (≤160 chars) • Email (full body) • Phone Call Script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417320"/>
            <a:ext cx="3749039" cy="2926080"/>
          </a:xfrm>
          <a:prstGeom prst="rect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508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Agent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82880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Escalation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42316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For High/Critical patients: generates clinical escalation report with immediate actions for physician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617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Powered by: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983480"/>
            <a:ext cx="11430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0D2B55"/>
                </a:solidFill>
              </a:rPr>
              <a:t>  •  OpenAI GPT-4o — LLM reasoning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0D2B55"/>
                </a:solidFill>
              </a:rPr>
              <a:t>  •  LangGraph — workflow orchestration with memory + interrupt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0D2B55"/>
                </a:solidFill>
              </a:rPr>
              <a:t>  •  LangChain + ChromaDB — RAG on clinical protocols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0D2B55"/>
                </a:solidFill>
              </a:rPr>
              <a:t>  •  Streamlit — clinical dashboard | AWS EC2 + S3 — cloud deployment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Dataset and Documents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D8DA"/>
                </a:solidFill>
              </a:rPr>
              <a:t>All synthetic data created by Team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810000" cy="4114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453896"/>
            <a:ext cx="37185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File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5760" y="1417320"/>
            <a:ext cx="3810000" cy="4114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21480" y="1453896"/>
            <a:ext cx="37185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Records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85760" y="1417320"/>
            <a:ext cx="3810000" cy="4114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31480" y="1453896"/>
            <a:ext cx="37185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828800"/>
            <a:ext cx="3810000" cy="41148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856232"/>
            <a:ext cx="37185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patients.csv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75760" y="1828800"/>
            <a:ext cx="3810000" cy="41148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21480" y="1856232"/>
            <a:ext cx="37185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20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85760" y="1828800"/>
            <a:ext cx="3810000" cy="41148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31480" y="1856232"/>
            <a:ext cx="37185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Demographics, diagnosis, risk level, follow-up status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240280"/>
            <a:ext cx="38100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2267712"/>
            <a:ext cx="37185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appointments.csv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75760" y="2240280"/>
            <a:ext cx="38100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21480" y="2267712"/>
            <a:ext cx="37185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40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85760" y="2240280"/>
            <a:ext cx="38100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31480" y="2267712"/>
            <a:ext cx="37185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Appointment history across departments (Cardiology, Oncology...)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651760"/>
            <a:ext cx="3810000" cy="41148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2679192"/>
            <a:ext cx="37185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followup_records.csv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75760" y="2651760"/>
            <a:ext cx="3810000" cy="41148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21480" y="2679192"/>
            <a:ext cx="37185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40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85760" y="2651760"/>
            <a:ext cx="3810000" cy="41148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31480" y="2679192"/>
            <a:ext cx="37185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Communication history, escalations, outcomes, next actions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32461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55"/>
                </a:solidFill>
              </a:rPr>
              <a:t>Synthetic Documents (for RAG Knowledge Base):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703320"/>
            <a:ext cx="5715000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3739896"/>
            <a:ext cx="5623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Document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80760" y="3703320"/>
            <a:ext cx="5715000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0" y="3739896"/>
            <a:ext cx="5623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Content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160520"/>
            <a:ext cx="5715000" cy="4572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4187952"/>
            <a:ext cx="5623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medical_followup_protocols.txt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80760" y="4160520"/>
            <a:ext cx="5715000" cy="4572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4187952"/>
            <a:ext cx="5623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7 sections: Cardiac, Diabetes, Oncology, Neurology, Surgery, CKD, Communication protocols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617720"/>
            <a:ext cx="5715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4645152"/>
            <a:ext cx="5623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patient_discharge_summaries.txt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80760" y="4617720"/>
            <a:ext cx="5715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26480" y="4645152"/>
            <a:ext cx="5623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6 detailed discharge summaries for critical patients — grounds AI responses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5257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Risk Distribution: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5623560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1">
                <a:solidFill>
                  <a:srgbClr val="1A1A2E"/>
                </a:solidFill>
              </a:rPr>
              <a:t>  •  Critical: 6 patients (30%)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A1A2E"/>
                </a:solidFill>
              </a:rPr>
              <a:t>  •  High: 7 patients (35%)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A1A2E"/>
                </a:solidFill>
              </a:rPr>
              <a:t>  •  Medium: 5 patients (25%)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A1A2E"/>
                </a:solidFill>
              </a:rPr>
              <a:t>  •  Low: 2 patients (10%)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D8DA"/>
                </a:solidFill>
              </a:rPr>
              <a:t>AWS EC2 + LangGraph + OpenAI GPT-4o + ChromaDB +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11612880" cy="4663440"/>
          </a:xfrm>
          <a:prstGeom prst="rect">
            <a:avLst/>
          </a:prstGeom>
          <a:solidFill>
            <a:srgbClr val="081C3A"/>
          </a:solidFill>
          <a:ln w="19050">
            <a:solidFill>
              <a:srgbClr val="008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98A"/>
                </a:solidFill>
              </a:rPr>
              <a:t>AWS EC2 Instance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11155680" cy="777240"/>
          </a:xfrm>
          <a:prstGeom prst="rect">
            <a:avLst/>
          </a:prstGeom>
          <a:solidFill>
            <a:srgbClr val="005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STREAMLIT FRONTEND  (Port 8501)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606040"/>
            <a:ext cx="8046720" cy="3246120"/>
          </a:xfrm>
          <a:prstGeom prst="rect">
            <a:avLst/>
          </a:prstGeom>
          <a:solidFill>
            <a:srgbClr val="0D2B55"/>
          </a:solidFill>
          <a:ln w="12700">
            <a:solidFill>
              <a:srgbClr val="00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67004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98A"/>
                </a:solidFill>
              </a:rPr>
              <a:t>LANGGRAPH WORKFLOW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108960"/>
            <a:ext cx="1463040" cy="7772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108960"/>
            <a:ext cx="45720" cy="77724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154680"/>
            <a:ext cx="1325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Load Patient
(CSV/S3)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40280" y="3108960"/>
            <a:ext cx="1463040" cy="7772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40280" y="3108960"/>
            <a:ext cx="45720" cy="77724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31720" y="3154680"/>
            <a:ext cx="1325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RAG
Retrieval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4760" y="3108960"/>
            <a:ext cx="1463040" cy="7772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94760" y="3108960"/>
            <a:ext cx="45720" cy="77724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86200" y="3154680"/>
            <a:ext cx="1325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Patient Summary
Agent (GPT-4o)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4114800"/>
            <a:ext cx="1463040" cy="7772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0" y="4114800"/>
            <a:ext cx="45720" cy="77724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4160520"/>
            <a:ext cx="1325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Reminder
Agent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3108960"/>
            <a:ext cx="1463040" cy="7772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0" y="3108960"/>
            <a:ext cx="45720" cy="77724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3154680"/>
            <a:ext cx="1325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Escalation
Agent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3108960"/>
            <a:ext cx="1463040" cy="7772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0" y="3108960"/>
            <a:ext cx="45720" cy="77724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0" y="3154680"/>
            <a:ext cx="1325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Human
Approval 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5029200"/>
            <a:ext cx="1463040" cy="7772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43600" y="5029200"/>
            <a:ext cx="45720" cy="77724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0" y="5074920"/>
            <a:ext cx="1325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Output
Formatter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49039" y="4069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F27"/>
                </a:solidFill>
              </a:rPr>
              <a:t>Risk Router 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32520" y="2606040"/>
            <a:ext cx="2834640" cy="1234440"/>
          </a:xfrm>
          <a:prstGeom prst="rect">
            <a:avLst/>
          </a:prstGeom>
          <a:solidFill>
            <a:srgbClr val="0D2B55"/>
          </a:solidFill>
          <a:ln w="12700">
            <a:solidFill>
              <a:srgbClr val="00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69680" y="26517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898A"/>
                </a:solidFill>
              </a:rPr>
              <a:t>ChromaDB
Vector Store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0" y="3200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(RAG Embeddings)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32520" y="3931920"/>
            <a:ext cx="2834640" cy="82296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69680" y="3977639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MemorySaver
(Checkpointer)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5989320"/>
            <a:ext cx="11155680" cy="502920"/>
          </a:xfrm>
          <a:prstGeom prst="rect">
            <a:avLst/>
          </a:prstGeom>
          <a:solidFill>
            <a:srgbClr val="1452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AWS S3  —  careconnect-documents/  (Protocol documents + Datasets)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651052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0FF80"/>
                </a:solidFill>
              </a:rPr>
              <a:t>OpenAI API (External)  —  GPT-4o  •  text-embedding-3-small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Agent Workflow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D8DA"/>
                </a:solidFill>
              </a:rPr>
              <a:t>Sequential + Router-based Conditional Branching | LangGraph StateGraph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657600" cy="36576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Agent 1
Patient Summary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3172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Input: Patient data + RAG context
Model: OpenAI GPT-4o (JSON mode)
Output: Clinical summary + risk_level
(low / medium / high / critical)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417320"/>
            <a:ext cx="3657600" cy="365760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50876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Agent 2
Reminder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33172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Input: Patient data + summary + RAG
Model: OpenAI GPT-4o
Output: SMS (≤160 chars)
  Email (subject + body)
  Phone Call Script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417320"/>
            <a:ext cx="3657600" cy="3657600"/>
          </a:xfrm>
          <a:prstGeom prst="rect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50876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Agent 3
Escalation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33172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Triggered for HIGH / CRITICAL only
Input: Patient data + summary
Output: Escalation report with
  • Immediate actions
  • Complications
  • Response timeline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5212080"/>
            <a:ext cx="12188952" cy="4572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5303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2B55"/>
                </a:solidFill>
              </a:rPr>
              <a:t>Workflow Type:  Sequential  →  Risk Router  →  Conditional Branch (Reminder | Escalation + Human Approval)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8064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LangGraph interrupt() pauses workflow when risk is High/Critical → resumes after clinician decision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RAG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D8DA"/>
                </a:solidFill>
              </a:rPr>
              <a:t>Retrieval-Augmented Generation — Grounding AI in Clinical Protocols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48640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73152" cy="51206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08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INGESTION PHASE  (One-Time Setup)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</a:rPr>
              <a:t>  •  Text documents loaded from AWS S3 / local directory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</a:rPr>
              <a:t>  •  LangChain DirectoryLoader + TextLoader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</a:rPr>
              <a:t>  •  RecursiveCharacterTextSplitter  chunk_size=800, overlap=100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</a:rPr>
              <a:t>  •  OpenAI text-embedding-3-small → dense vector embeddings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</a:rPr>
              <a:t>  •  ChromaDB stores embeddings (persisted to disk)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417320"/>
            <a:ext cx="5577840" cy="51206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417320"/>
            <a:ext cx="73152" cy="512064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5087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98A"/>
                </a:solidFill>
              </a:rPr>
              <a:t>RETRIEVAL PHASE  (Per Patient Query)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1168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FFFFFF"/>
                </a:solidFill>
              </a:rPr>
              <a:t>  •  Patient diagnosis extracted from dataset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FFFFFF"/>
                </a:solidFill>
              </a:rPr>
              <a:t>  •  Query formed: "Follow-up protocol for {diagnosis}"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FFFFFF"/>
                </a:solidFill>
              </a:rPr>
              <a:t>  •  Query embedded using text-embedding-3-small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FFFFFF"/>
                </a:solidFill>
              </a:rPr>
              <a:t>  •  ChromaDB cosine similarity search (top-4 chunks)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FFFFFF"/>
                </a:solidFill>
              </a:rPr>
              <a:t>  •  Chunks joined as rag_context for agents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FFFFFF"/>
                </a:solidFill>
              </a:rPr>
              <a:t>  •  Agents produce clinically grounded responses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Without RAG: Generic / hallucinated responses    |    With RAG: Clinically accurate, protocol-grounded outputs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Human Approval — Human-in-the-Loop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D8DA"/>
                </a:solidFill>
              </a:rPr>
              <a:t>LangGraph interrupt() | Clinician Reviews Critical Cases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303520" cy="914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TRIGGER:  Patient risk_level = HIGH  or  CRITICAL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417320"/>
            <a:ext cx="5852160" cy="5943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0760" y="1490472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1. Escalation Agent generates clinical report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2075688"/>
            <a:ext cx="5852160" cy="594360"/>
          </a:xfrm>
          <a:prstGeom prst="rect">
            <a:avLst/>
          </a:prstGeom>
          <a:solidFill>
            <a:srgbClr val="0F3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214884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2. human_approval_node calls interrupt(payload)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2734056"/>
            <a:ext cx="5852160" cy="5943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2807208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3. LangGraph pauses — MemorySaver persists state snapshot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3392424"/>
            <a:ext cx="5852160" cy="594360"/>
          </a:xfrm>
          <a:prstGeom prst="rect">
            <a:avLst/>
          </a:prstGeom>
          <a:solidFill>
            <a:srgbClr val="0F3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3465576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4. Streamlit shows clinician: Summary + Escalation + 3 buttons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050792"/>
            <a:ext cx="5852160" cy="5943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0760" y="4123944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5. Clinician chooses action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4709160"/>
            <a:ext cx="5852160" cy="594360"/>
          </a:xfrm>
          <a:prstGeom prst="rect">
            <a:avLst/>
          </a:prstGeom>
          <a:solidFill>
            <a:srgbClr val="0F3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0760" y="4782312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6. Frontend calls Command(resume=decision)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5367528"/>
            <a:ext cx="5852160" cy="5943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0760" y="54406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7. Workflow resumes from exact paused state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468880"/>
            <a:ext cx="1767840" cy="4800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2505456"/>
            <a:ext cx="1676400" cy="40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Decision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33600" y="2468880"/>
            <a:ext cx="1767840" cy="4800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79320" y="2505456"/>
            <a:ext cx="1676400" cy="40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01440" y="2468880"/>
            <a:ext cx="1767840" cy="4800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47160" y="2505456"/>
            <a:ext cx="1676400" cy="40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Workflow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948940"/>
            <a:ext cx="1767840" cy="48006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2976372"/>
            <a:ext cx="1676400" cy="425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Approve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33600" y="2948940"/>
            <a:ext cx="1767840" cy="48006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79320" y="2976372"/>
            <a:ext cx="1676400" cy="425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Urgent but reminders sufficient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01440" y="2948940"/>
            <a:ext cx="1767840" cy="48006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47160" y="2976372"/>
            <a:ext cx="1676400" cy="425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→ Reminder Agent → reminders generated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429000"/>
            <a:ext cx="1767840" cy="4800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3456432"/>
            <a:ext cx="1676400" cy="425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Reject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33600" y="3429000"/>
            <a:ext cx="1767840" cy="4800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79320" y="3456432"/>
            <a:ext cx="1676400" cy="425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No immediate action needed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901440" y="3429000"/>
            <a:ext cx="1767840" cy="4800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47160" y="3456432"/>
            <a:ext cx="1676400" cy="425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→ Output Formatter (case closed)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3909060"/>
            <a:ext cx="1767840" cy="48006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3936492"/>
            <a:ext cx="1676400" cy="425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Escalate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33600" y="3909060"/>
            <a:ext cx="1767840" cy="48006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179320" y="3936492"/>
            <a:ext cx="1676400" cy="425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Immediate intervention needed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901440" y="3909060"/>
            <a:ext cx="1767840" cy="48006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47160" y="3936492"/>
            <a:ext cx="1676400" cy="425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→ Output with urgent intervention flag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46634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88"/>
                </a:solidFill>
              </a:rPr>
              <a:t>graph.stream(Command(resume=decision), config={"configurable": {"thread_id": tid}})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AWS Deployment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D8DA"/>
                </a:solidFill>
              </a:rPr>
              <a:t>EC2 (Application Hosting) + S3 (Document and Dataset Storage)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810000" cy="426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453896"/>
            <a:ext cx="3718560" cy="353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Component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5760" y="1417320"/>
            <a:ext cx="3810000" cy="426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21480" y="1453896"/>
            <a:ext cx="3718560" cy="353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AWS Service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85760" y="1417320"/>
            <a:ext cx="3810000" cy="426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31480" y="1453896"/>
            <a:ext cx="3718560" cy="353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Details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844040"/>
            <a:ext cx="3810000" cy="4267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871472"/>
            <a:ext cx="3718560" cy="371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Application Hosting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75760" y="1844040"/>
            <a:ext cx="3810000" cy="4267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21480" y="1871472"/>
            <a:ext cx="3718560" cy="371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AWS EC2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85760" y="1844040"/>
            <a:ext cx="3810000" cy="4267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31480" y="1871472"/>
            <a:ext cx="3718560" cy="371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t2.medium | Ubuntu 22.04 | Port 8501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270760"/>
            <a:ext cx="3810000" cy="426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2298192"/>
            <a:ext cx="3718560" cy="371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Document Storage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75760" y="2270760"/>
            <a:ext cx="3810000" cy="426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21480" y="2298192"/>
            <a:ext cx="3718560" cy="371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AWS S3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85760" y="2270760"/>
            <a:ext cx="3810000" cy="426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31480" y="2298192"/>
            <a:ext cx="3718560" cy="371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Bucket: careconnect-documents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697480"/>
            <a:ext cx="3810000" cy="4267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2724912"/>
            <a:ext cx="3718560" cy="371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Network Security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75760" y="2697480"/>
            <a:ext cx="3810000" cy="4267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21480" y="2724912"/>
            <a:ext cx="3718560" cy="371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Security Group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85760" y="2697480"/>
            <a:ext cx="3810000" cy="4267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31480" y="2724912"/>
            <a:ext cx="3718560" cy="371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Inbound: Port 8501 + Port 22 (SSH)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124200"/>
            <a:ext cx="3810000" cy="426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3151632"/>
            <a:ext cx="3718560" cy="371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Public Access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75760" y="3124200"/>
            <a:ext cx="3810000" cy="426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21480" y="3151632"/>
            <a:ext cx="3718560" cy="371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Elastic IP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85760" y="3124200"/>
            <a:ext cx="3810000" cy="426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31480" y="3151632"/>
            <a:ext cx="3718560" cy="371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Static public URL for stable access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550920"/>
            <a:ext cx="3810000" cy="4267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3578352"/>
            <a:ext cx="3718560" cy="371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Auth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75760" y="3550920"/>
            <a:ext cx="3810000" cy="4267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21480" y="3578352"/>
            <a:ext cx="3718560" cy="371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IAM Role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85760" y="3550920"/>
            <a:ext cx="3810000" cy="4267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31480" y="3578352"/>
            <a:ext cx="3718560" cy="371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EC2 instance role for S3 access (no hardcoded keys)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4160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S3 Folder Structure: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452628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1">
                <a:solidFill>
                  <a:srgbClr val="1A1A2E"/>
                </a:solidFill>
              </a:rPr>
              <a:t>  •  careconnect-documents/documents/medical_followup_protocols.txt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A1A2E"/>
                </a:solidFill>
              </a:rPr>
              <a:t>  •  careconnect-documents/documents/patient_discharge_summaries.txt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A1A2E"/>
                </a:solidFill>
              </a:rPr>
              <a:t>  •  careconnect-documents/datasets/patients.csv  |  appointments.csv  |  followup_records.csv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32320" y="4023360"/>
            <a:ext cx="4663440" cy="2103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0" y="411480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98A"/>
                </a:solidFill>
              </a:rPr>
              <a:t>Launch Command: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4526280"/>
            <a:ext cx="4297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pip install -r requirements.txt
python main.py --rebuild-rag
streamlit run frontend/app.py \
  --server.port 8501 \
  --server.address 0.0.0.0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Challenges Faced and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D8DA"/>
                </a:solidFill>
              </a:rPr>
              <a:t>Real engineering problems encountered and how we solved them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715000" cy="8229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453896"/>
            <a:ext cx="5623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Challenge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1417320"/>
            <a:ext cx="5715000" cy="8229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453896"/>
            <a:ext cx="5623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Solution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40280"/>
            <a:ext cx="5715000" cy="82296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267712"/>
            <a:ext cx="562356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LangGraph state loss after interrupt in Streamlit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2240280"/>
            <a:ext cx="5715000" cy="82296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2267712"/>
            <a:ext cx="562356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Stored thread_id in session_state; used get_state() to recover LangGraph snapshot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063240"/>
            <a:ext cx="57150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090672"/>
            <a:ext cx="562356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RAG returning irrelevant chunks for medical queries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3063240"/>
            <a:ext cx="57150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3090672"/>
            <a:ext cx="562356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Diagnosis-specific query formulation; increased chunk_size from 500→800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886200"/>
            <a:ext cx="5715000" cy="82296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913632"/>
            <a:ext cx="562356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GPT-4o JSON response with markdown wrappers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3886200"/>
            <a:ext cx="5715000" cy="82296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3913632"/>
            <a:ext cx="562356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Added response_format={type:json_object}; built safe_json_parse() with regex fallback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709160"/>
            <a:ext cx="57150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736592"/>
            <a:ext cx="562356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Streamlit re-render resetting workflow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4709160"/>
            <a:ext cx="57150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4736592"/>
            <a:ext cx="562356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workflow_phase state machine (idle/processing/awaiting_approval/complete) + explicit st.rerun()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532120"/>
            <a:ext cx="5715000" cy="82296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5559552"/>
            <a:ext cx="562356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ChromaDB path breaking on EC2 server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60" y="5532120"/>
            <a:ext cx="5715000" cy="82296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5559552"/>
            <a:ext cx="562356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All paths computed using os.path.dirname(os.path.abspath(__file__)) base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Key Outcomes and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D8DA"/>
                </a:solidFill>
              </a:rPr>
              <a:t>CareConnect — Measurable Achievements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2651760" cy="12801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9047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898A"/>
                </a:solidFill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116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Patients
Processed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417320"/>
            <a:ext cx="2651760" cy="12801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49047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898A"/>
                </a:solidFill>
              </a:rP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0116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Correctly
Escalated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417320"/>
            <a:ext cx="2651760" cy="12801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49047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898A"/>
                </a:solidFill>
              </a:rPr>
              <a:t>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0116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Reminders
Generated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1417320"/>
            <a:ext cx="2651760" cy="12801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149047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898A"/>
                </a:solidFill>
              </a:rPr>
              <a:t>2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0116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Follow-up Prep
Time (was 45 min)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2926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Technical Achievements: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337560"/>
            <a:ext cx="5669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</a:rPr>
              <a:t>  •  3 specialized LangGraph agents in unified pipeline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</a:rPr>
              <a:t>  •  600+ document chunks indexed in ChromaDB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</a:rPr>
              <a:t>  •  Human-in-the-loop via LangGraph interrupt() — end-to-end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</a:rPr>
              <a:t>  •  6 error modes handled with retry and fallback logic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</a:rPr>
              <a:t>  •  AWS EC2 + S3 fully deployed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926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Business Value: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33756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</a:rPr>
              <a:t>  •  Care coordinator prep time: 45 min → 2 min per patient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</a:rPr>
              <a:t>  •  Risk stratification prioritises highest-acuity patients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</a:rPr>
              <a:t>  •  Personalized reminders improve patient engagement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</a:rPr>
              <a:t>  •  Full audit trail via LangGraph state checkpointing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</a:rPr>
              <a:t>  •  Scalable to 1000s of patients with cloud deployment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D8DA"/>
                </a:solidFill>
              </a:rPr>
              <a:t>Roadmap for CareConnect V2.0 and Beyond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657600" cy="5074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Short-Term
(1–3 months)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Real EMR/EHR integration (HL7 FHIR APIs)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089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Email + SMS dispatch via AWS SES / Twilio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862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Multi-language reminders (Hindi, Marathi, Tamil)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6634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PostgreSQL persistent checkpointer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417320"/>
            <a:ext cx="3657600" cy="507492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5087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Medium-Term
(3–6 months)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3317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Fine-tuned medical LLM for clinical reasoning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1089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Patient mobile app for self-reporting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8862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Predictive readmission risk model (ML + LSTM)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6634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Real-time vital sign monitoring (IoT wearables)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417320"/>
            <a:ext cx="3657600" cy="5074920"/>
          </a:xfrm>
          <a:prstGeom prst="rect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5087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Long-Term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3317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Multi-hospital deployment (HIPAA / DPDP compliant)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1089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Federated learning across hospital networks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8862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Voice AI agent for autonomous follow-up calls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6634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Integration with national health records (ABDM)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88952" cy="54864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0"/>
            <a:ext cx="12188952" cy="54864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898A"/>
                </a:solidFill>
              </a:rPr>
              <a:t>CareConnect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97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A8D8DA"/>
                </a:solidFill>
              </a:rPr>
              <a:t>"Ensuring every patient is heard, every follow-up is kept"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290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Team 11  |  IIT Roorkee AIOps Capstone  |  June 2026
Manisha Pradhan  •  Sunit Mukherjee  •  Reffel Murzello
Vivek Sharma  •  Pradeep Kumar M  •  Mohammed Rohith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257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080A0"/>
                </a:solidFill>
              </a:rPr>
              <a:t>GPT-4o  •  LangGraph  •  LangChain  •  ChromaDB  •  Streamlit  •  AWS EC2  •  AWS S3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898A"/>
                </a:solidFill>
              </a:rPr>
              <a:t>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